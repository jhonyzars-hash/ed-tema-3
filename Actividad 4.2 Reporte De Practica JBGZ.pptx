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5" r:id="rId3"/>
    <p:sldId id="262" r:id="rId4"/>
    <p:sldId id="257" r:id="rId5"/>
    <p:sldId id="258" r:id="rId6"/>
    <p:sldId id="259" r:id="rId7"/>
    <p:sldId id="260" r:id="rId8"/>
    <p:sldId id="261" r:id="rId9"/>
    <p:sldId id="267" r:id="rId10"/>
    <p:sldId id="268" r:id="rId11"/>
    <p:sldId id="263" r:id="rId12"/>
    <p:sldId id="266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5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863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925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832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632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448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5829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9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2425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439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192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D9B4B-7BA0-4F06-A767-B7EC4C3F4191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34317-EF71-4F86-AC51-7492759C58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367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/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-212351" y="297151"/>
            <a:ext cx="249364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n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184" y="330806"/>
            <a:ext cx="1768475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234" y="297151"/>
            <a:ext cx="1422400" cy="80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9"/>
          <a:stretch/>
        </p:blipFill>
        <p:spPr bwMode="auto">
          <a:xfrm>
            <a:off x="5631584" y="333981"/>
            <a:ext cx="1971675" cy="7048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uadroTexto 7"/>
          <p:cNvSpPr txBox="1"/>
          <p:nvPr/>
        </p:nvSpPr>
        <p:spPr>
          <a:xfrm>
            <a:off x="3066184" y="1256145"/>
            <a:ext cx="703810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s-MX" sz="1200" b="1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ECNOLÓGICO NACIONAL DE MÉXICO</a:t>
            </a:r>
            <a:endParaRPr lang="es-MX" sz="11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Alumno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Jhony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Benjamín Gómez Zacarías 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Francisco Javier Velázquez Mingo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Estructura de datos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Carrera: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1130300" algn="l"/>
              </a:tabLs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  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tabLst>
                <a:tab pos="1130300" algn="l"/>
              </a:tabLst>
            </a:pP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03	 </a:t>
            </a:r>
            <a:r>
              <a:rPr lang="es-MX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control:</a:t>
            </a: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241260006</a:t>
            </a:r>
          </a:p>
          <a:p>
            <a:pPr algn="ctr">
              <a:lnSpc>
                <a:spcPct val="250000"/>
              </a:lnSpc>
              <a:spcAft>
                <a:spcPts val="800"/>
              </a:spcAft>
              <a:tabLst>
                <a:tab pos="1130300" algn="l"/>
              </a:tabLst>
            </a:pP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s-MX" sz="12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 de texto 9"/>
          <p:cNvSpPr txBox="1"/>
          <p:nvPr/>
        </p:nvSpPr>
        <p:spPr>
          <a:xfrm>
            <a:off x="5631584" y="5542973"/>
            <a:ext cx="3457575" cy="27940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MX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 Chis  </a:t>
            </a:r>
            <a:r>
              <a:rPr lang="es-MX" sz="1200" dirty="0" smtClean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25 </a:t>
            </a:r>
            <a:r>
              <a:rPr lang="es-MX" sz="1200" dirty="0" smtClean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noviembre </a:t>
            </a:r>
            <a:r>
              <a:rPr lang="es-MX" sz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2025</a:t>
            </a:r>
            <a:endParaRPr lang="es-MX" sz="12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7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908" y="969818"/>
            <a:ext cx="8986982" cy="357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Introducción</a:t>
            </a:r>
            <a:endParaRPr lang="es-MX" sz="2800" b="1" dirty="0"/>
          </a:p>
          <a:p>
            <a:pPr algn="just"/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sz="2400" dirty="0"/>
              <a:t>En esta presentación se explica el funcionamiento del código del proyecto de Estructuras No Lineales. Se describe qué hace cada parte del programa, cómo se conectan las vistas con sus controladores y qué métodos principales se usan para ejecutar los ejercicios de árboles BST y grafos</a:t>
            </a:r>
          </a:p>
        </p:txBody>
      </p:sp>
    </p:spTree>
    <p:extLst>
      <p:ext uri="{BB962C8B-B14F-4D97-AF65-F5344CB8AC3E}">
        <p14:creationId xmlns:p14="http://schemas.microsoft.com/office/powerpoint/2010/main" val="395210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05526" y="979055"/>
            <a:ext cx="8986982" cy="357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Justificación</a:t>
            </a:r>
            <a:endParaRPr lang="es-MX" sz="2800" b="1" dirty="0"/>
          </a:p>
          <a:p>
            <a:pPr algn="just"/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sz="2400" dirty="0"/>
              <a:t>Se documentan las funciones del código para que sea fácil entender el proyecto, corregirlo o modificarlo si es necesario. Además, al identificar cada método y su propósito, se refuerza el aprendizaje sobre cómo se implementan árboles y grafos en Java, y cómo se integran con una interfaz en </a:t>
            </a:r>
            <a:r>
              <a:rPr lang="es-MX" sz="2400" dirty="0" err="1"/>
              <a:t>JavaFX</a:t>
            </a:r>
            <a:r>
              <a:rPr lang="es-MX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156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32436" y="226417"/>
            <a:ext cx="4359564" cy="35532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 err="1"/>
              <a:t>BienvenidaController</a:t>
            </a:r>
            <a:r>
              <a:rPr lang="es-ES" sz="2000" b="1" dirty="0"/>
              <a:t> y bienvenida-</a:t>
            </a:r>
            <a:r>
              <a:rPr lang="es-ES" sz="2000" b="1" dirty="0" err="1"/>
              <a:t>view</a:t>
            </a:r>
            <a:endParaRPr lang="es-ES" sz="2000" b="1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En estas dos clases se muestra una ventana de bienvenida con un botón Entrar. Al presionarlo se ejecuta </a:t>
            </a:r>
            <a:r>
              <a:rPr lang="es-MX" sz="2000" dirty="0" err="1"/>
              <a:t>onEntrar</a:t>
            </a:r>
            <a:r>
              <a:rPr lang="es-MX" sz="2000" dirty="0"/>
              <a:t>() y se cambia a la ventana del menú principal.</a:t>
            </a:r>
            <a:endParaRPr lang="es-ES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0" y="226417"/>
            <a:ext cx="7388352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9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32436" y="226417"/>
            <a:ext cx="4359564" cy="35532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 err="1"/>
              <a:t>MenuController</a:t>
            </a:r>
            <a:r>
              <a:rPr lang="es-ES" sz="2000" b="1" dirty="0"/>
              <a:t> y </a:t>
            </a:r>
            <a:r>
              <a:rPr lang="es-ES" sz="2000" b="1" dirty="0" err="1"/>
              <a:t>menu-view</a:t>
            </a:r>
            <a:endParaRPr lang="es-ES" sz="2000" b="1" dirty="0"/>
          </a:p>
          <a:p>
            <a:pPr algn="just">
              <a:lnSpc>
                <a:spcPct val="150000"/>
              </a:lnSpc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Aquí se muestra el menú con las opciones Árboles y Grafos. Con </a:t>
            </a:r>
            <a:r>
              <a:rPr lang="es-MX" sz="2000" dirty="0" err="1"/>
              <a:t>onArboles</a:t>
            </a:r>
            <a:r>
              <a:rPr lang="es-MX" sz="2000" dirty="0"/>
              <a:t>() o </a:t>
            </a:r>
            <a:r>
              <a:rPr lang="es-MX" sz="2000" dirty="0" err="1"/>
              <a:t>onGrafos</a:t>
            </a:r>
            <a:r>
              <a:rPr lang="es-MX" sz="2000" dirty="0"/>
              <a:t>() se abre la ventana correspondiente, y con </a:t>
            </a:r>
            <a:r>
              <a:rPr lang="es-MX" sz="2000" dirty="0" err="1"/>
              <a:t>onRegresar</a:t>
            </a:r>
            <a:r>
              <a:rPr lang="es-MX" sz="2000" dirty="0"/>
              <a:t>() vuelve a la bienvenida.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907" y="366119"/>
            <a:ext cx="7228224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2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23200" y="263361"/>
            <a:ext cx="4359564" cy="53999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 err="1"/>
              <a:t>MenuArbolesController</a:t>
            </a:r>
            <a:r>
              <a:rPr lang="es-ES" sz="2000" b="1" dirty="0"/>
              <a:t> y </a:t>
            </a:r>
            <a:r>
              <a:rPr lang="es-ES" sz="2000" b="1" dirty="0" err="1"/>
              <a:t>menu</a:t>
            </a:r>
            <a:r>
              <a:rPr lang="es-ES" sz="2000" b="1" dirty="0"/>
              <a:t>-arboles-</a:t>
            </a:r>
            <a:r>
              <a:rPr lang="es-ES" sz="2000" b="1" dirty="0" err="1"/>
              <a:t>view</a:t>
            </a:r>
            <a:endParaRPr lang="es-ES" sz="2000" b="1" dirty="0"/>
          </a:p>
          <a:p>
            <a:pPr algn="just">
              <a:lnSpc>
                <a:spcPct val="150000"/>
              </a:lnSpc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En esta parte se trabaja el menú de ejercicios de árboles BST. Con </a:t>
            </a:r>
            <a:r>
              <a:rPr lang="es-MX" sz="2000" dirty="0" err="1"/>
              <a:t>onInsertar</a:t>
            </a:r>
            <a:r>
              <a:rPr lang="es-MX" sz="2000" dirty="0"/>
              <a:t>() se agregan valores, con </a:t>
            </a:r>
            <a:r>
              <a:rPr lang="es-MX" sz="2000" dirty="0" err="1"/>
              <a:t>onRecorridos</a:t>
            </a:r>
            <a:r>
              <a:rPr lang="es-MX" sz="2000" dirty="0"/>
              <a:t>() se muestran recorridos, con </a:t>
            </a:r>
            <a:r>
              <a:rPr lang="es-MX" sz="2000" dirty="0" err="1"/>
              <a:t>onBuscar</a:t>
            </a:r>
            <a:r>
              <a:rPr lang="es-MX" sz="2000" dirty="0"/>
              <a:t>() se verifica si existe un número y con </a:t>
            </a:r>
            <a:r>
              <a:rPr lang="es-MX" sz="2000" dirty="0" err="1"/>
              <a:t>onAltura</a:t>
            </a:r>
            <a:r>
              <a:rPr lang="es-MX" sz="2000" dirty="0"/>
              <a:t>() se muestran datos como altura y conteos. Los resultados aparecen en el </a:t>
            </a:r>
            <a:r>
              <a:rPr lang="es-MX" sz="2000" dirty="0" err="1"/>
              <a:t>TextArea</a:t>
            </a:r>
            <a:r>
              <a:rPr lang="es-MX" sz="2000" dirty="0"/>
              <a:t>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740" y="263361"/>
            <a:ext cx="7474444" cy="63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6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23200" y="263361"/>
            <a:ext cx="4359564" cy="40149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just">
              <a:lnSpc>
                <a:spcPct val="150000"/>
              </a:lnSpc>
            </a:pPr>
            <a:r>
              <a:rPr lang="es-ES" sz="2000" b="1" dirty="0" err="1"/>
              <a:t>MenuGrafosController</a:t>
            </a:r>
            <a:r>
              <a:rPr lang="es-ES" sz="2000" b="1" dirty="0"/>
              <a:t> y </a:t>
            </a:r>
            <a:r>
              <a:rPr lang="es-ES" sz="2000" b="1" dirty="0" err="1"/>
              <a:t>menu</a:t>
            </a:r>
            <a:r>
              <a:rPr lang="es-ES" sz="2000" b="1" dirty="0"/>
              <a:t>-grafos-</a:t>
            </a:r>
            <a:r>
              <a:rPr lang="es-ES" sz="2000" b="1" dirty="0" err="1"/>
              <a:t>view</a:t>
            </a: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En estas clases se controla el menú de grafos. Con </a:t>
            </a:r>
            <a:r>
              <a:rPr lang="es-MX" sz="2000" dirty="0" err="1"/>
              <a:t>onAgregar</a:t>
            </a:r>
            <a:r>
              <a:rPr lang="es-MX" sz="2000" dirty="0"/>
              <a:t>() se agregan vértices/aristas, con </a:t>
            </a:r>
            <a:r>
              <a:rPr lang="es-MX" sz="2000" dirty="0" err="1"/>
              <a:t>onMostrar</a:t>
            </a:r>
            <a:r>
              <a:rPr lang="es-MX" sz="2000" dirty="0"/>
              <a:t>() se imprime la lista de adyacencia, y con </a:t>
            </a:r>
            <a:r>
              <a:rPr lang="es-MX" sz="2000" dirty="0" err="1"/>
              <a:t>onBfs</a:t>
            </a:r>
            <a:r>
              <a:rPr lang="es-MX" sz="2000" dirty="0"/>
              <a:t>() / </a:t>
            </a:r>
            <a:r>
              <a:rPr lang="es-MX" sz="2000" dirty="0" err="1"/>
              <a:t>onDfs</a:t>
            </a:r>
            <a:r>
              <a:rPr lang="es-MX" sz="2000" dirty="0"/>
              <a:t>() se muestran recorridos desde un nodo inicial.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925" y="135186"/>
            <a:ext cx="6974840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9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23200" y="263361"/>
            <a:ext cx="4359564" cy="30916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 err="1"/>
              <a:t>NodoArbol</a:t>
            </a:r>
            <a:r>
              <a:rPr lang="es-ES" sz="2000" b="1" dirty="0"/>
              <a:t> (funciones)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Esta clase representa un nodo del árbol: guarda un valor y sus referencias izquierda y derecha. Es la base para construir el BST.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880" y="173463"/>
            <a:ext cx="7510272" cy="63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3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23200" y="263361"/>
            <a:ext cx="4359564" cy="4476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/>
              <a:t>ArbolBST (funciones)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Esta clase contiene la lógica del árbol: insertar() agrega valores, buscar() revisa si existe un dato, </a:t>
            </a:r>
            <a:r>
              <a:rPr lang="es-MX" sz="2000" dirty="0" err="1"/>
              <a:t>inorden</a:t>
            </a:r>
            <a:r>
              <a:rPr lang="es-MX" sz="2000" dirty="0"/>
              <a:t>/</a:t>
            </a:r>
            <a:r>
              <a:rPr lang="es-MX" sz="2000" dirty="0" err="1"/>
              <a:t>preorden</a:t>
            </a:r>
            <a:r>
              <a:rPr lang="es-MX" sz="2000" dirty="0"/>
              <a:t>/</a:t>
            </a:r>
            <a:r>
              <a:rPr lang="es-MX" sz="2000" dirty="0" err="1"/>
              <a:t>postorden</a:t>
            </a:r>
            <a:r>
              <a:rPr lang="es-MX" sz="2000" dirty="0"/>
              <a:t>() devuelven recorridos, y altura/</a:t>
            </a:r>
            <a:r>
              <a:rPr lang="es-MX" sz="2000" dirty="0" err="1"/>
              <a:t>contarNodos</a:t>
            </a:r>
            <a:r>
              <a:rPr lang="es-MX" sz="2000" dirty="0"/>
              <a:t>/</a:t>
            </a:r>
            <a:r>
              <a:rPr lang="es-MX" sz="2000" dirty="0" err="1"/>
              <a:t>contarHojas</a:t>
            </a:r>
            <a:r>
              <a:rPr lang="es-MX" sz="2000" dirty="0"/>
              <a:t>() muestran información general del árbol.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61" y="263361"/>
            <a:ext cx="7705278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1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7823200" y="263361"/>
            <a:ext cx="4359564" cy="35532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>
              <a:lnSpc>
                <a:spcPct val="150000"/>
              </a:lnSpc>
            </a:pPr>
            <a:r>
              <a:rPr lang="es-ES" sz="2000" b="1" dirty="0"/>
              <a:t>Grafo (funciones)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MX" sz="2000" dirty="0"/>
              <a:t>Esta clase maneja el grafo con lista de adyacencia. </a:t>
            </a:r>
            <a:r>
              <a:rPr lang="es-MX" sz="2000" dirty="0" err="1"/>
              <a:t>agregarVertice</a:t>
            </a:r>
            <a:r>
              <a:rPr lang="es-MX" sz="2000" dirty="0"/>
              <a:t>() crea vértices, </a:t>
            </a:r>
            <a:r>
              <a:rPr lang="es-MX" sz="2000" dirty="0" err="1"/>
              <a:t>agregarArista</a:t>
            </a:r>
            <a:r>
              <a:rPr lang="es-MX" sz="2000" dirty="0"/>
              <a:t>() conecta nodos, mostrar() enseña conexiones y </a:t>
            </a:r>
            <a:r>
              <a:rPr lang="es-MX" sz="2000" dirty="0" err="1"/>
              <a:t>bfs</a:t>
            </a:r>
            <a:r>
              <a:rPr lang="es-MX" sz="2000" dirty="0"/>
              <a:t>() / </a:t>
            </a:r>
            <a:r>
              <a:rPr lang="es-MX" sz="2000" dirty="0" err="1"/>
              <a:t>dfs</a:t>
            </a:r>
            <a:r>
              <a:rPr lang="es-MX" sz="2000" dirty="0"/>
              <a:t>() recorren el grafo desde un inicio.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6" y="263361"/>
            <a:ext cx="7579433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60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908" y="969818"/>
            <a:ext cx="898698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Conclusión</a:t>
            </a:r>
            <a:endParaRPr lang="es-MX" sz="2800" b="1" dirty="0"/>
          </a:p>
          <a:p>
            <a:pPr algn="just"/>
            <a:endParaRPr lang="es-MX" dirty="0"/>
          </a:p>
          <a:p>
            <a:pPr algn="just">
              <a:lnSpc>
                <a:spcPct val="150000"/>
              </a:lnSpc>
            </a:pPr>
            <a:r>
              <a:rPr lang="es-ES" sz="2400" dirty="0"/>
              <a:t>Al finalizar este trabajo se logró entender el funcionamiento </a:t>
            </a:r>
            <a:r>
              <a:rPr lang="es-MX" sz="2400" dirty="0"/>
              <a:t>En general, las vistas muestran los botones y campos, los </a:t>
            </a:r>
            <a:r>
              <a:rPr lang="es-MX" sz="2400" dirty="0" err="1"/>
              <a:t>controllers</a:t>
            </a:r>
            <a:r>
              <a:rPr lang="es-MX" sz="2400" dirty="0"/>
              <a:t> manejan los eventos y llaman a las clases de funciones. Con esto se logra practicar de forma sencilla árboles BST y grafos usando operaciones básicas como insertar, buscar y recorrer.</a:t>
            </a:r>
          </a:p>
        </p:txBody>
      </p:sp>
    </p:spTree>
    <p:extLst>
      <p:ext uri="{BB962C8B-B14F-4D97-AF65-F5344CB8AC3E}">
        <p14:creationId xmlns:p14="http://schemas.microsoft.com/office/powerpoint/2010/main" val="1504269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46908" y="969818"/>
            <a:ext cx="89869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Link anexado de los ejercicios solicitados en </a:t>
            </a:r>
            <a:r>
              <a:rPr lang="es-MX" sz="3200" b="1" dirty="0" err="1"/>
              <a:t>GitHub</a:t>
            </a:r>
            <a:r>
              <a:rPr lang="es-MX" sz="3200" b="1" dirty="0"/>
              <a:t> </a:t>
            </a:r>
            <a:endParaRPr lang="es-MX" sz="2800" b="1" dirty="0"/>
          </a:p>
          <a:p>
            <a:pPr algn="just"/>
            <a:endParaRPr lang="es-MX" dirty="0"/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3790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</TotalTime>
  <Words>265</Words>
  <Application>Microsoft Office PowerPoint</Application>
  <PresentationFormat>Panorámica</PresentationFormat>
  <Paragraphs>44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Full name</dc:creator>
  <cp:lastModifiedBy>Full name</cp:lastModifiedBy>
  <cp:revision>18</cp:revision>
  <dcterms:created xsi:type="dcterms:W3CDTF">2025-12-13T00:56:47Z</dcterms:created>
  <dcterms:modified xsi:type="dcterms:W3CDTF">2025-12-14T18:47:41Z</dcterms:modified>
</cp:coreProperties>
</file>