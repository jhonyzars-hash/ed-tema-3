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65" r:id="rId3"/>
    <p:sldId id="262" r:id="rId4"/>
    <p:sldId id="257" r:id="rId5"/>
    <p:sldId id="258" r:id="rId6"/>
    <p:sldId id="259" r:id="rId7"/>
    <p:sldId id="260" r:id="rId8"/>
    <p:sldId id="261" r:id="rId9"/>
    <p:sldId id="267" r:id="rId10"/>
    <p:sldId id="263" r:id="rId11"/>
    <p:sldId id="266" r:id="rId12"/>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43" d="100"/>
          <a:sy n="43" d="100"/>
        </p:scale>
        <p:origin x="756" y="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MX"/>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modificar el estilo de subtítulo del patrón</a:t>
            </a:r>
            <a:endParaRPr lang="es-MX"/>
          </a:p>
        </p:txBody>
      </p:sp>
      <p:sp>
        <p:nvSpPr>
          <p:cNvPr id="4" name="Marcador de fecha 3"/>
          <p:cNvSpPr>
            <a:spLocks noGrp="1"/>
          </p:cNvSpPr>
          <p:nvPr>
            <p:ph type="dt" sz="half" idx="10"/>
          </p:nvPr>
        </p:nvSpPr>
        <p:spPr/>
        <p:txBody>
          <a:bodyPr/>
          <a:lstStyle/>
          <a:p>
            <a:fld id="{1A6D9B4B-7BA0-4F06-A767-B7EC4C3F4191}" type="datetimeFigureOut">
              <a:rPr lang="es-MX" smtClean="0"/>
              <a:t>14/12/2025</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3C634317-EF71-4F86-AC51-7492759C58F3}" type="slidenum">
              <a:rPr lang="es-MX" smtClean="0"/>
              <a:t>‹Nº›</a:t>
            </a:fld>
            <a:endParaRPr lang="es-MX"/>
          </a:p>
        </p:txBody>
      </p:sp>
    </p:spTree>
    <p:extLst>
      <p:ext uri="{BB962C8B-B14F-4D97-AF65-F5344CB8AC3E}">
        <p14:creationId xmlns:p14="http://schemas.microsoft.com/office/powerpoint/2010/main" val="40086386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contenido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1A6D9B4B-7BA0-4F06-A767-B7EC4C3F4191}" type="datetimeFigureOut">
              <a:rPr lang="es-MX" smtClean="0"/>
              <a:t>14/12/2025</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3C634317-EF71-4F86-AC51-7492759C58F3}" type="slidenum">
              <a:rPr lang="es-MX" smtClean="0"/>
              <a:t>‹Nº›</a:t>
            </a:fld>
            <a:endParaRPr lang="es-MX"/>
          </a:p>
        </p:txBody>
      </p:sp>
    </p:spTree>
    <p:extLst>
      <p:ext uri="{BB962C8B-B14F-4D97-AF65-F5344CB8AC3E}">
        <p14:creationId xmlns:p14="http://schemas.microsoft.com/office/powerpoint/2010/main" val="989255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Haga clic para modificar el estilo de texto del patrón</a:t>
            </a:r>
          </a:p>
        </p:txBody>
      </p:sp>
      <p:sp>
        <p:nvSpPr>
          <p:cNvPr id="4" name="Marcador de fecha 3"/>
          <p:cNvSpPr>
            <a:spLocks noGrp="1"/>
          </p:cNvSpPr>
          <p:nvPr>
            <p:ph type="dt" sz="half" idx="10"/>
          </p:nvPr>
        </p:nvSpPr>
        <p:spPr/>
        <p:txBody>
          <a:bodyPr/>
          <a:lstStyle/>
          <a:p>
            <a:fld id="{1A6D9B4B-7BA0-4F06-A767-B7EC4C3F4191}" type="datetimeFigureOut">
              <a:rPr lang="es-MX" smtClean="0"/>
              <a:t>14/12/2025</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3C634317-EF71-4F86-AC51-7492759C58F3}" type="slidenum">
              <a:rPr lang="es-MX" smtClean="0"/>
              <a:t>‹Nº›</a:t>
            </a:fld>
            <a:endParaRPr lang="es-MX"/>
          </a:p>
        </p:txBody>
      </p:sp>
    </p:spTree>
    <p:extLst>
      <p:ext uri="{BB962C8B-B14F-4D97-AF65-F5344CB8AC3E}">
        <p14:creationId xmlns:p14="http://schemas.microsoft.com/office/powerpoint/2010/main" val="11383255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contenido 2"/>
          <p:cNvSpPr>
            <a:spLocks noGrp="1"/>
          </p:cNvSpPr>
          <p:nvPr>
            <p:ph sz="half" idx="1"/>
          </p:nvPr>
        </p:nvSpPr>
        <p:spPr>
          <a:xfrm>
            <a:off x="838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contenido 3"/>
          <p:cNvSpPr>
            <a:spLocks noGrp="1"/>
          </p:cNvSpPr>
          <p:nvPr>
            <p:ph sz="half" idx="2"/>
          </p:nvPr>
        </p:nvSpPr>
        <p:spPr>
          <a:xfrm>
            <a:off x="6172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Marcador de fecha 4"/>
          <p:cNvSpPr>
            <a:spLocks noGrp="1"/>
          </p:cNvSpPr>
          <p:nvPr>
            <p:ph type="dt" sz="half" idx="10"/>
          </p:nvPr>
        </p:nvSpPr>
        <p:spPr/>
        <p:txBody>
          <a:bodyPr/>
          <a:lstStyle/>
          <a:p>
            <a:fld id="{1A6D9B4B-7BA0-4F06-A767-B7EC4C3F4191}" type="datetimeFigureOut">
              <a:rPr lang="es-MX" smtClean="0"/>
              <a:t>14/12/2025</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3C634317-EF71-4F86-AC51-7492759C58F3}" type="slidenum">
              <a:rPr lang="es-MX" smtClean="0"/>
              <a:t>‹Nº›</a:t>
            </a:fld>
            <a:endParaRPr lang="es-MX"/>
          </a:p>
        </p:txBody>
      </p:sp>
    </p:spTree>
    <p:extLst>
      <p:ext uri="{BB962C8B-B14F-4D97-AF65-F5344CB8AC3E}">
        <p14:creationId xmlns:p14="http://schemas.microsoft.com/office/powerpoint/2010/main" val="2136325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7" name="Marcador de fecha 6"/>
          <p:cNvSpPr>
            <a:spLocks noGrp="1"/>
          </p:cNvSpPr>
          <p:nvPr>
            <p:ph type="dt" sz="half" idx="10"/>
          </p:nvPr>
        </p:nvSpPr>
        <p:spPr/>
        <p:txBody>
          <a:bodyPr/>
          <a:lstStyle/>
          <a:p>
            <a:fld id="{1A6D9B4B-7BA0-4F06-A767-B7EC4C3F4191}" type="datetimeFigureOut">
              <a:rPr lang="es-MX" smtClean="0"/>
              <a:t>14/12/2025</a:t>
            </a:fld>
            <a:endParaRPr lang="es-MX"/>
          </a:p>
        </p:txBody>
      </p:sp>
      <p:sp>
        <p:nvSpPr>
          <p:cNvPr id="8" name="Marcador de pie de página 7"/>
          <p:cNvSpPr>
            <a:spLocks noGrp="1"/>
          </p:cNvSpPr>
          <p:nvPr>
            <p:ph type="ftr" sz="quarter" idx="11"/>
          </p:nvPr>
        </p:nvSpPr>
        <p:spPr/>
        <p:txBody>
          <a:bodyPr/>
          <a:lstStyle/>
          <a:p>
            <a:endParaRPr lang="es-MX"/>
          </a:p>
        </p:txBody>
      </p:sp>
      <p:sp>
        <p:nvSpPr>
          <p:cNvPr id="9" name="Marcador de número de diapositiva 8"/>
          <p:cNvSpPr>
            <a:spLocks noGrp="1"/>
          </p:cNvSpPr>
          <p:nvPr>
            <p:ph type="sldNum" sz="quarter" idx="12"/>
          </p:nvPr>
        </p:nvSpPr>
        <p:spPr/>
        <p:txBody>
          <a:bodyPr/>
          <a:lstStyle/>
          <a:p>
            <a:fld id="{3C634317-EF71-4F86-AC51-7492759C58F3}" type="slidenum">
              <a:rPr lang="es-MX" smtClean="0"/>
              <a:t>‹Nº›</a:t>
            </a:fld>
            <a:endParaRPr lang="es-MX"/>
          </a:p>
        </p:txBody>
      </p:sp>
    </p:spTree>
    <p:extLst>
      <p:ext uri="{BB962C8B-B14F-4D97-AF65-F5344CB8AC3E}">
        <p14:creationId xmlns:p14="http://schemas.microsoft.com/office/powerpoint/2010/main" val="3294485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fecha 2"/>
          <p:cNvSpPr>
            <a:spLocks noGrp="1"/>
          </p:cNvSpPr>
          <p:nvPr>
            <p:ph type="dt" sz="half" idx="10"/>
          </p:nvPr>
        </p:nvSpPr>
        <p:spPr/>
        <p:txBody>
          <a:bodyPr/>
          <a:lstStyle/>
          <a:p>
            <a:fld id="{1A6D9B4B-7BA0-4F06-A767-B7EC4C3F4191}" type="datetimeFigureOut">
              <a:rPr lang="es-MX" smtClean="0"/>
              <a:t>14/12/2025</a:t>
            </a:fld>
            <a:endParaRPr lang="es-MX"/>
          </a:p>
        </p:txBody>
      </p:sp>
      <p:sp>
        <p:nvSpPr>
          <p:cNvPr id="4" name="Marcador de pie de página 3"/>
          <p:cNvSpPr>
            <a:spLocks noGrp="1"/>
          </p:cNvSpPr>
          <p:nvPr>
            <p:ph type="ftr" sz="quarter" idx="11"/>
          </p:nvPr>
        </p:nvSpPr>
        <p:spPr/>
        <p:txBody>
          <a:bodyPr/>
          <a:lstStyle/>
          <a:p>
            <a:endParaRPr lang="es-MX"/>
          </a:p>
        </p:txBody>
      </p:sp>
      <p:sp>
        <p:nvSpPr>
          <p:cNvPr id="5" name="Marcador de número de diapositiva 4"/>
          <p:cNvSpPr>
            <a:spLocks noGrp="1"/>
          </p:cNvSpPr>
          <p:nvPr>
            <p:ph type="sldNum" sz="quarter" idx="12"/>
          </p:nvPr>
        </p:nvSpPr>
        <p:spPr/>
        <p:txBody>
          <a:bodyPr/>
          <a:lstStyle/>
          <a:p>
            <a:fld id="{3C634317-EF71-4F86-AC51-7492759C58F3}" type="slidenum">
              <a:rPr lang="es-MX" smtClean="0"/>
              <a:t>‹Nº›</a:t>
            </a:fld>
            <a:endParaRPr lang="es-MX"/>
          </a:p>
        </p:txBody>
      </p:sp>
    </p:spTree>
    <p:extLst>
      <p:ext uri="{BB962C8B-B14F-4D97-AF65-F5344CB8AC3E}">
        <p14:creationId xmlns:p14="http://schemas.microsoft.com/office/powerpoint/2010/main" val="2605829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1A6D9B4B-7BA0-4F06-A767-B7EC4C3F4191}" type="datetimeFigureOut">
              <a:rPr lang="es-MX" smtClean="0"/>
              <a:t>14/12/2025</a:t>
            </a:fld>
            <a:endParaRPr lang="es-MX"/>
          </a:p>
        </p:txBody>
      </p:sp>
      <p:sp>
        <p:nvSpPr>
          <p:cNvPr id="3" name="Marcador de pie de página 2"/>
          <p:cNvSpPr>
            <a:spLocks noGrp="1"/>
          </p:cNvSpPr>
          <p:nvPr>
            <p:ph type="ftr" sz="quarter" idx="11"/>
          </p:nvPr>
        </p:nvSpPr>
        <p:spPr/>
        <p:txBody>
          <a:bodyPr/>
          <a:lstStyle/>
          <a:p>
            <a:endParaRPr lang="es-MX"/>
          </a:p>
        </p:txBody>
      </p:sp>
      <p:sp>
        <p:nvSpPr>
          <p:cNvPr id="4" name="Marcador de número de diapositiva 3"/>
          <p:cNvSpPr>
            <a:spLocks noGrp="1"/>
          </p:cNvSpPr>
          <p:nvPr>
            <p:ph type="sldNum" sz="quarter" idx="12"/>
          </p:nvPr>
        </p:nvSpPr>
        <p:spPr/>
        <p:txBody>
          <a:bodyPr/>
          <a:lstStyle/>
          <a:p>
            <a:fld id="{3C634317-EF71-4F86-AC51-7492759C58F3}" type="slidenum">
              <a:rPr lang="es-MX" smtClean="0"/>
              <a:t>‹Nº›</a:t>
            </a:fld>
            <a:endParaRPr lang="es-MX"/>
          </a:p>
        </p:txBody>
      </p:sp>
    </p:spTree>
    <p:extLst>
      <p:ext uri="{BB962C8B-B14F-4D97-AF65-F5344CB8AC3E}">
        <p14:creationId xmlns:p14="http://schemas.microsoft.com/office/powerpoint/2010/main" val="421964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MX"/>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1A6D9B4B-7BA0-4F06-A767-B7EC4C3F4191}" type="datetimeFigureOut">
              <a:rPr lang="es-MX" smtClean="0"/>
              <a:t>14/12/2025</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3C634317-EF71-4F86-AC51-7492759C58F3}" type="slidenum">
              <a:rPr lang="es-MX" smtClean="0"/>
              <a:t>‹Nº›</a:t>
            </a:fld>
            <a:endParaRPr lang="es-MX"/>
          </a:p>
        </p:txBody>
      </p:sp>
    </p:spTree>
    <p:extLst>
      <p:ext uri="{BB962C8B-B14F-4D97-AF65-F5344CB8AC3E}">
        <p14:creationId xmlns:p14="http://schemas.microsoft.com/office/powerpoint/2010/main" val="21024250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MX"/>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1A6D9B4B-7BA0-4F06-A767-B7EC4C3F4191}" type="datetimeFigureOut">
              <a:rPr lang="es-MX" smtClean="0"/>
              <a:t>14/12/2025</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3C634317-EF71-4F86-AC51-7492759C58F3}" type="slidenum">
              <a:rPr lang="es-MX" smtClean="0"/>
              <a:t>‹Nº›</a:t>
            </a:fld>
            <a:endParaRPr lang="es-MX"/>
          </a:p>
        </p:txBody>
      </p:sp>
    </p:spTree>
    <p:extLst>
      <p:ext uri="{BB962C8B-B14F-4D97-AF65-F5344CB8AC3E}">
        <p14:creationId xmlns:p14="http://schemas.microsoft.com/office/powerpoint/2010/main" val="1394394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texto vertical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1A6D9B4B-7BA0-4F06-A767-B7EC4C3F4191}" type="datetimeFigureOut">
              <a:rPr lang="es-MX" smtClean="0"/>
              <a:t>14/12/2025</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3C634317-EF71-4F86-AC51-7492759C58F3}" type="slidenum">
              <a:rPr lang="es-MX" smtClean="0"/>
              <a:t>‹Nº›</a:t>
            </a:fld>
            <a:endParaRPr lang="es-MX"/>
          </a:p>
        </p:txBody>
      </p:sp>
    </p:spTree>
    <p:extLst>
      <p:ext uri="{BB962C8B-B14F-4D97-AF65-F5344CB8AC3E}">
        <p14:creationId xmlns:p14="http://schemas.microsoft.com/office/powerpoint/2010/main" val="3001926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MX"/>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1A6D9B4B-7BA0-4F06-A767-B7EC4C3F4191}" type="datetimeFigureOut">
              <a:rPr lang="es-MX" smtClean="0"/>
              <a:t>14/12/2025</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3C634317-EF71-4F86-AC51-7492759C58F3}" type="slidenum">
              <a:rPr lang="es-MX" smtClean="0"/>
              <a:t>‹Nº›</a:t>
            </a:fld>
            <a:endParaRPr lang="es-MX"/>
          </a:p>
        </p:txBody>
      </p:sp>
    </p:spTree>
    <p:extLst>
      <p:ext uri="{BB962C8B-B14F-4D97-AF65-F5344CB8AC3E}">
        <p14:creationId xmlns:p14="http://schemas.microsoft.com/office/powerpoint/2010/main" val="39650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6D9B4B-7BA0-4F06-A767-B7EC4C3F4191}" type="datetimeFigureOut">
              <a:rPr lang="es-MX" smtClean="0"/>
              <a:t>14/12/2025</a:t>
            </a:fld>
            <a:endParaRPr lang="es-MX"/>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634317-EF71-4F86-AC51-7492759C58F3}" type="slidenum">
              <a:rPr lang="es-MX" smtClean="0"/>
              <a:t>‹Nº›</a:t>
            </a:fld>
            <a:endParaRPr lang="es-MX"/>
          </a:p>
        </p:txBody>
      </p:sp>
    </p:spTree>
    <p:extLst>
      <p:ext uri="{BB962C8B-B14F-4D97-AF65-F5344CB8AC3E}">
        <p14:creationId xmlns:p14="http://schemas.microsoft.com/office/powerpoint/2010/main" val="813678213"/>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p:nvPr/>
        </p:nvPicPr>
        <p:blipFill rotWithShape="1">
          <a:blip r:embed="rId2">
            <a:alphaModFix amt="35000"/>
            <a:extLst>
              <a:ext uri="{28A0092B-C50C-407E-A947-70E740481C1C}">
                <a14:useLocalDpi xmlns:a14="http://schemas.microsoft.com/office/drawing/2010/main" val="0"/>
              </a:ext>
            </a:extLst>
          </a:blip>
          <a:srcRect l="19656" r="23395" b="34652"/>
          <a:stretch/>
        </p:blipFill>
        <p:spPr bwMode="auto">
          <a:xfrm>
            <a:off x="-212351" y="297151"/>
            <a:ext cx="2493645" cy="6448425"/>
          </a:xfrm>
          <a:prstGeom prst="rect">
            <a:avLst/>
          </a:prstGeom>
          <a:ln>
            <a:noFill/>
          </a:ln>
          <a:effectLst>
            <a:outerShdw blurRad="292100" dist="139700" dir="2700000" algn="tl" rotWithShape="0">
              <a:srgbClr val="333333">
                <a:alpha val="65000"/>
              </a:srgbClr>
            </a:outerShdw>
          </a:effectLst>
          <a:extLst>
            <a:ext uri="{53640926-AAD7-44D8-BBD7-CCE9431645EC}">
              <a14:shadowObscured xmlns:a14="http://schemas.microsoft.com/office/drawing/2010/main"/>
            </a:ext>
          </a:extLst>
        </p:spPr>
      </p:pic>
      <p:pic>
        <p:nvPicPr>
          <p:cNvPr id="5" name="Imagen 4"/>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66184" y="330806"/>
            <a:ext cx="1768475" cy="844550"/>
          </a:xfrm>
          <a:prstGeom prst="rect">
            <a:avLst/>
          </a:prstGeom>
          <a:noFill/>
          <a:ln>
            <a:noFill/>
          </a:ln>
        </p:spPr>
      </p:pic>
      <p:pic>
        <p:nvPicPr>
          <p:cNvPr id="6" name="Imagen 5"/>
          <p:cNvPicPr/>
          <p:nvPr/>
        </p:nvPicPr>
        <p:blipFill>
          <a:blip r:embed="rId4">
            <a:extLst>
              <a:ext uri="{28A0092B-C50C-407E-A947-70E740481C1C}">
                <a14:useLocalDpi xmlns:a14="http://schemas.microsoft.com/office/drawing/2010/main" val="0"/>
              </a:ext>
            </a:extLst>
          </a:blip>
          <a:srcRect/>
          <a:stretch>
            <a:fillRect/>
          </a:stretch>
        </p:blipFill>
        <p:spPr bwMode="auto">
          <a:xfrm>
            <a:off x="8165234" y="297151"/>
            <a:ext cx="1422400" cy="806450"/>
          </a:xfrm>
          <a:prstGeom prst="rect">
            <a:avLst/>
          </a:prstGeom>
          <a:noFill/>
          <a:ln>
            <a:noFill/>
          </a:ln>
        </p:spPr>
      </p:pic>
      <p:pic>
        <p:nvPicPr>
          <p:cNvPr id="7" name="Imagen 6"/>
          <p:cNvPicPr/>
          <p:nvPr/>
        </p:nvPicPr>
        <p:blipFill rotWithShape="1">
          <a:blip r:embed="rId5">
            <a:extLst>
              <a:ext uri="{28A0092B-C50C-407E-A947-70E740481C1C}">
                <a14:useLocalDpi xmlns:a14="http://schemas.microsoft.com/office/drawing/2010/main" val="0"/>
              </a:ext>
            </a:extLst>
          </a:blip>
          <a:srcRect t="32076" b="33019"/>
          <a:stretch/>
        </p:blipFill>
        <p:spPr bwMode="auto">
          <a:xfrm>
            <a:off x="5631584" y="333981"/>
            <a:ext cx="1971675" cy="704850"/>
          </a:xfrm>
          <a:prstGeom prst="rect">
            <a:avLst/>
          </a:prstGeom>
          <a:noFill/>
          <a:ln>
            <a:noFill/>
          </a:ln>
          <a:extLst>
            <a:ext uri="{53640926-AAD7-44D8-BBD7-CCE9431645EC}">
              <a14:shadowObscured xmlns:a14="http://schemas.microsoft.com/office/drawing/2010/main"/>
            </a:ext>
          </a:extLst>
        </p:spPr>
      </p:pic>
      <p:sp>
        <p:nvSpPr>
          <p:cNvPr id="8" name="CuadroTexto 7"/>
          <p:cNvSpPr txBox="1"/>
          <p:nvPr/>
        </p:nvSpPr>
        <p:spPr>
          <a:xfrm>
            <a:off x="3066184" y="1256145"/>
            <a:ext cx="7038109" cy="5304016"/>
          </a:xfrm>
          <a:prstGeom prst="rect">
            <a:avLst/>
          </a:prstGeom>
          <a:noFill/>
        </p:spPr>
        <p:txBody>
          <a:bodyPr wrap="square" rtlCol="0">
            <a:spAutoFit/>
          </a:bodyPr>
          <a:lstStyle/>
          <a:p>
            <a:pPr algn="ctr">
              <a:lnSpc>
                <a:spcPct val="200000"/>
              </a:lnSpc>
              <a:spcAft>
                <a:spcPts val="800"/>
              </a:spcAft>
            </a:pPr>
            <a:r>
              <a:rPr lang="es-MX" sz="1200" b="1" dirty="0" smtClean="0">
                <a:solidFill>
                  <a:srgbClr val="000000"/>
                </a:solidFill>
                <a:effectLst/>
                <a:latin typeface="Arial Narrow" panose="020B0606020202030204" pitchFamily="34" charset="0"/>
                <a:ea typeface="Calibri" panose="020F0502020204030204" pitchFamily="34" charset="0"/>
                <a:cs typeface="Times New Roman" panose="02020603050405020304" pitchFamily="18" charset="0"/>
              </a:rPr>
              <a:t>T</a:t>
            </a:r>
            <a:r>
              <a:rPr lang="es-MX" sz="1200" b="1"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ECNOLÓGICO NACIONAL DE MÉXICO</a:t>
            </a:r>
            <a:endParaRPr lang="es-MX" sz="110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200000"/>
              </a:lnSpc>
              <a:spcAft>
                <a:spcPts val="800"/>
              </a:spcAft>
            </a:pPr>
            <a:r>
              <a:rPr lang="es-MX" sz="1200" b="1"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INSTITUTO TECNOLÓGICO DE FRONTERA COMALAPA</a:t>
            </a:r>
          </a:p>
          <a:p>
            <a:pPr algn="ctr">
              <a:spcAft>
                <a:spcPts val="800"/>
              </a:spcAft>
              <a:tabLst>
                <a:tab pos="1130300" algn="l"/>
              </a:tabLst>
            </a:pPr>
            <a:r>
              <a:rPr lang="es-MX" sz="1200" b="1"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Alumno</a:t>
            </a:r>
            <a:r>
              <a:rPr lang="es-MX" sz="1200"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a:t>
            </a:r>
            <a:endParaRPr lang="es-MX" sz="120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algn="ctr">
              <a:spcAft>
                <a:spcPts val="800"/>
              </a:spcAft>
              <a:tabLst>
                <a:tab pos="1130300" algn="l"/>
              </a:tabLst>
            </a:pPr>
            <a:r>
              <a:rPr lang="es-MX" sz="1200" dirty="0" err="1" smtClean="0">
                <a:solidFill>
                  <a:srgbClr val="000000"/>
                </a:solidFill>
                <a:effectLst/>
                <a:latin typeface="Arial" panose="020B0604020202020204" pitchFamily="34" charset="0"/>
                <a:ea typeface="Calibri" panose="020F0502020204030204" pitchFamily="34" charset="0"/>
                <a:cs typeface="Arial" panose="020B0604020202020204" pitchFamily="34" charset="0"/>
              </a:rPr>
              <a:t>Jhony</a:t>
            </a:r>
            <a:r>
              <a:rPr lang="es-MX" sz="1200"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 Benjamín Gómez Zacarías </a:t>
            </a:r>
            <a:endParaRPr lang="es-MX" sz="120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algn="ctr">
              <a:spcAft>
                <a:spcPts val="800"/>
              </a:spcAft>
              <a:tabLst>
                <a:tab pos="1130300" algn="l"/>
              </a:tabLst>
            </a:pPr>
            <a:r>
              <a:rPr lang="es-MX" sz="1200" b="1"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Docente</a:t>
            </a:r>
            <a:r>
              <a:rPr lang="es-MX" sz="1200"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a:t>
            </a:r>
            <a:endParaRPr lang="es-MX" sz="120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algn="ctr">
              <a:spcAft>
                <a:spcPts val="800"/>
              </a:spcAft>
              <a:tabLst>
                <a:tab pos="1130300" algn="l"/>
              </a:tabLst>
            </a:pPr>
            <a:r>
              <a:rPr lang="es-MX" sz="1200"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Francisco Javier Velázquez Mingo</a:t>
            </a:r>
            <a:endParaRPr lang="es-MX" sz="120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algn="ctr">
              <a:spcAft>
                <a:spcPts val="800"/>
              </a:spcAft>
              <a:tabLst>
                <a:tab pos="1130300" algn="l"/>
              </a:tabLst>
            </a:pPr>
            <a:r>
              <a:rPr lang="es-MX" sz="1200" b="1"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Materia</a:t>
            </a:r>
            <a:r>
              <a:rPr lang="es-MX" sz="1200"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s-MX" sz="120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algn="ctr">
              <a:spcAft>
                <a:spcPts val="800"/>
              </a:spcAft>
              <a:tabLst>
                <a:tab pos="1130300" algn="l"/>
              </a:tabLst>
            </a:pPr>
            <a:r>
              <a:rPr lang="es-MX" sz="1200"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Estructura de datos</a:t>
            </a:r>
            <a:endParaRPr lang="es-MX" sz="120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algn="ctr">
              <a:spcAft>
                <a:spcPts val="800"/>
              </a:spcAft>
              <a:tabLst>
                <a:tab pos="1130300" algn="l"/>
              </a:tabLst>
            </a:pPr>
            <a:r>
              <a:rPr lang="es-MX" sz="1200" b="1"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Carrera:</a:t>
            </a:r>
            <a:endParaRPr lang="es-MX" sz="120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50000"/>
              </a:lnSpc>
              <a:spcAft>
                <a:spcPts val="800"/>
              </a:spcAft>
              <a:tabLst>
                <a:tab pos="1130300" algn="l"/>
              </a:tabLst>
            </a:pPr>
            <a:r>
              <a:rPr lang="es-MX" sz="1200"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Ingeniería en Sistemas Computacionales  </a:t>
            </a:r>
          </a:p>
          <a:p>
            <a:pPr algn="ctr">
              <a:lnSpc>
                <a:spcPct val="150000"/>
              </a:lnSpc>
              <a:spcAft>
                <a:spcPts val="800"/>
              </a:spcAft>
              <a:tabLst>
                <a:tab pos="1130300" algn="l"/>
              </a:tabLst>
            </a:pPr>
            <a:r>
              <a:rPr lang="es-MX" sz="1200" b="1" dirty="0" smtClean="0">
                <a:solidFill>
                  <a:srgbClr val="000000"/>
                </a:solidFill>
                <a:latin typeface="Arial" panose="020B0604020202020204" pitchFamily="34" charset="0"/>
                <a:ea typeface="Calibri" panose="020F0502020204030204" pitchFamily="34" charset="0"/>
                <a:cs typeface="Arial" panose="020B0604020202020204" pitchFamily="34" charset="0"/>
              </a:rPr>
              <a:t>Actividad de segunda oportunidad</a:t>
            </a:r>
            <a:endParaRPr lang="es-MX" sz="1200" b="1"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250000"/>
              </a:lnSpc>
              <a:spcAft>
                <a:spcPts val="800"/>
              </a:spcAft>
              <a:tabLst>
                <a:tab pos="1130300" algn="l"/>
              </a:tabLst>
            </a:pPr>
            <a:r>
              <a:rPr lang="es-MX" sz="1200" b="1"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Semestre:</a:t>
            </a:r>
            <a:r>
              <a:rPr lang="es-MX" sz="1200"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 03	 </a:t>
            </a:r>
            <a:r>
              <a:rPr lang="es-MX" sz="1200" b="1"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Numero de control:</a:t>
            </a:r>
            <a:r>
              <a:rPr lang="es-MX" sz="1200"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 241260006</a:t>
            </a:r>
          </a:p>
          <a:p>
            <a:pPr algn="ctr">
              <a:lnSpc>
                <a:spcPct val="250000"/>
              </a:lnSpc>
              <a:spcAft>
                <a:spcPts val="800"/>
              </a:spcAft>
              <a:tabLst>
                <a:tab pos="1130300" algn="l"/>
              </a:tabLst>
            </a:pPr>
            <a:endParaRPr lang="es-MX" sz="120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r>
              <a:rPr lang="es-MX" sz="1200" dirty="0" smtClean="0">
                <a:solidFill>
                  <a:srgbClr val="000000"/>
                </a:solidFill>
                <a:effectLst/>
                <a:latin typeface="Arial" panose="020B0604020202020204" pitchFamily="34" charset="0"/>
                <a:ea typeface="Calibri" panose="020F0502020204030204" pitchFamily="34" charset="0"/>
              </a:rPr>
              <a:t/>
            </a:r>
            <a:br>
              <a:rPr lang="es-MX" sz="1200" dirty="0" smtClean="0">
                <a:solidFill>
                  <a:srgbClr val="000000"/>
                </a:solidFill>
                <a:effectLst/>
                <a:latin typeface="Arial" panose="020B0604020202020204" pitchFamily="34" charset="0"/>
                <a:ea typeface="Calibri" panose="020F0502020204030204" pitchFamily="34" charset="0"/>
              </a:rPr>
            </a:br>
            <a:endParaRPr lang="es-MX" sz="1200" b="1" dirty="0">
              <a:solidFill>
                <a:srgbClr val="000000"/>
              </a:solidFill>
              <a:latin typeface="Arial" panose="020B0604020202020204" pitchFamily="34" charset="0"/>
              <a:ea typeface="Calibri" panose="020F0502020204030204" pitchFamily="34" charset="0"/>
              <a:cs typeface="Arial" panose="020B0604020202020204" pitchFamily="34" charset="0"/>
            </a:endParaRPr>
          </a:p>
        </p:txBody>
      </p:sp>
      <p:sp>
        <p:nvSpPr>
          <p:cNvPr id="9" name="Cuadro de texto 9"/>
          <p:cNvSpPr txBox="1"/>
          <p:nvPr/>
        </p:nvSpPr>
        <p:spPr>
          <a:xfrm>
            <a:off x="5631584" y="5542973"/>
            <a:ext cx="3457575" cy="27940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50000"/>
              </a:lnSpc>
              <a:spcAft>
                <a:spcPts val="800"/>
              </a:spcAft>
            </a:pPr>
            <a:r>
              <a:rPr lang="es-MX"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Frontera Comalapa Chis  </a:t>
            </a:r>
            <a:r>
              <a:rPr lang="es-MX" sz="1200"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12 noviembre 2025</a:t>
            </a:r>
            <a:endParaRPr lang="es-MX"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73772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246908" y="969818"/>
            <a:ext cx="8986982" cy="4185761"/>
          </a:xfrm>
          <a:prstGeom prst="rect">
            <a:avLst/>
          </a:prstGeom>
          <a:noFill/>
        </p:spPr>
        <p:txBody>
          <a:bodyPr wrap="square" rtlCol="0">
            <a:spAutoFit/>
          </a:bodyPr>
          <a:lstStyle/>
          <a:p>
            <a:pPr algn="ctr"/>
            <a:r>
              <a:rPr lang="es-MX" sz="3200" b="1" dirty="0" smtClean="0"/>
              <a:t>Introducción</a:t>
            </a:r>
            <a:endParaRPr lang="es-MX" sz="2800" b="1" dirty="0"/>
          </a:p>
          <a:p>
            <a:pPr algn="just"/>
            <a:endParaRPr lang="es-MX" dirty="0" smtClean="0"/>
          </a:p>
          <a:p>
            <a:pPr algn="just">
              <a:lnSpc>
                <a:spcPct val="150000"/>
              </a:lnSpc>
            </a:pPr>
            <a:r>
              <a:rPr lang="es-ES" sz="2400" dirty="0" smtClean="0"/>
              <a:t>En </a:t>
            </a:r>
            <a:r>
              <a:rPr lang="es-ES" sz="2400" dirty="0"/>
              <a:t>este trabajo se presentan distintos ejemplos de estructuras de datos lineales, las cuales son fundamentales en la programación y en el área de la informática. Durante el desarrollo del proyecto se implementaron varias clases que representan estructuras como la pila, cola, lista, arreglo y vector, cada una con funciones específicas para almacenar y manipular datos.</a:t>
            </a:r>
            <a:endParaRPr lang="es-MX" sz="2400" dirty="0"/>
          </a:p>
        </p:txBody>
      </p:sp>
    </p:spTree>
    <p:extLst>
      <p:ext uri="{BB962C8B-B14F-4D97-AF65-F5344CB8AC3E}">
        <p14:creationId xmlns:p14="http://schemas.microsoft.com/office/powerpoint/2010/main" val="39521001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505526" y="979055"/>
            <a:ext cx="8986982" cy="4739759"/>
          </a:xfrm>
          <a:prstGeom prst="rect">
            <a:avLst/>
          </a:prstGeom>
          <a:noFill/>
        </p:spPr>
        <p:txBody>
          <a:bodyPr wrap="square" rtlCol="0">
            <a:spAutoFit/>
          </a:bodyPr>
          <a:lstStyle/>
          <a:p>
            <a:pPr algn="ctr"/>
            <a:r>
              <a:rPr lang="es-MX" sz="3200" b="1" dirty="0" smtClean="0"/>
              <a:t>Justificación</a:t>
            </a:r>
            <a:endParaRPr lang="es-MX" sz="2800" b="1" dirty="0"/>
          </a:p>
          <a:p>
            <a:pPr algn="just"/>
            <a:endParaRPr lang="es-MX" dirty="0" smtClean="0"/>
          </a:p>
          <a:p>
            <a:pPr algn="just">
              <a:lnSpc>
                <a:spcPct val="150000"/>
              </a:lnSpc>
            </a:pPr>
            <a:r>
              <a:rPr lang="es-ES" sz="2400" dirty="0" smtClean="0"/>
              <a:t>La </a:t>
            </a:r>
            <a:r>
              <a:rPr lang="es-ES" sz="2400" dirty="0"/>
              <a:t>realización de este trabajo es importante porque permite comprender el funcionamiento de las estructuras de datos lineales, las cuales son la base para el desarrollo de programas más complejos. A través de la implementación de diferentes clases, se pudo observar cómo cada estructura maneja la información de manera distinta, ya sea siguiendo un orden específico o permitiendo una manipulación dinámica de los datos.</a:t>
            </a:r>
            <a:endParaRPr lang="es-MX" sz="2400" dirty="0"/>
          </a:p>
        </p:txBody>
      </p:sp>
    </p:spTree>
    <p:extLst>
      <p:ext uri="{BB962C8B-B14F-4D97-AF65-F5344CB8AC3E}">
        <p14:creationId xmlns:p14="http://schemas.microsoft.com/office/powerpoint/2010/main" val="1151564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7832436" y="226417"/>
            <a:ext cx="4359564" cy="4570482"/>
          </a:xfrm>
          <a:prstGeom prst="rect">
            <a:avLst/>
          </a:prstGeom>
          <a:solidFill>
            <a:schemeClr val="bg1"/>
          </a:solidFill>
        </p:spPr>
        <p:txBody>
          <a:bodyPr wrap="square" rtlCol="0">
            <a:spAutoFit/>
          </a:bodyPr>
          <a:lstStyle/>
          <a:p>
            <a:pPr algn="ctr"/>
            <a:endParaRPr lang="es-MX" dirty="0"/>
          </a:p>
          <a:p>
            <a:pPr algn="ctr">
              <a:lnSpc>
                <a:spcPct val="150000"/>
              </a:lnSpc>
            </a:pPr>
            <a:r>
              <a:rPr lang="es-ES" sz="2000" b="1" dirty="0" smtClean="0"/>
              <a:t>Pilas</a:t>
            </a:r>
          </a:p>
          <a:p>
            <a:pPr algn="just">
              <a:lnSpc>
                <a:spcPct val="150000"/>
              </a:lnSpc>
            </a:pPr>
            <a:r>
              <a:rPr lang="es-ES" dirty="0"/>
              <a:t>En la clase Pila se implementa una estructura de datos tipo pila, la cual funciona bajo el principio último en entrar, primero en salir. En este código se permite agregar elementos mediante el método apilar, los cuales se colocan en la parte superior de la pila. También se incluye el método </a:t>
            </a:r>
            <a:r>
              <a:rPr lang="es-ES" dirty="0" err="1"/>
              <a:t>desapilar</a:t>
            </a:r>
            <a:r>
              <a:rPr lang="es-ES" dirty="0"/>
              <a:t>, que elimina el último elemento agregado.</a:t>
            </a:r>
          </a:p>
        </p:txBody>
      </p:sp>
      <p:pic>
        <p:nvPicPr>
          <p:cNvPr id="4" name="Imagen 3"/>
          <p:cNvPicPr>
            <a:picLocks noChangeAspect="1"/>
          </p:cNvPicPr>
          <p:nvPr/>
        </p:nvPicPr>
        <p:blipFill>
          <a:blip r:embed="rId2"/>
          <a:stretch>
            <a:fillRect/>
          </a:stretch>
        </p:blipFill>
        <p:spPr>
          <a:xfrm>
            <a:off x="110835" y="226417"/>
            <a:ext cx="7560749" cy="6331275"/>
          </a:xfrm>
          <a:prstGeom prst="rect">
            <a:avLst/>
          </a:prstGeom>
        </p:spPr>
      </p:pic>
    </p:spTree>
    <p:extLst>
      <p:ext uri="{BB962C8B-B14F-4D97-AF65-F5344CB8AC3E}">
        <p14:creationId xmlns:p14="http://schemas.microsoft.com/office/powerpoint/2010/main" val="3003393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7832436" y="226417"/>
            <a:ext cx="4359564" cy="4524315"/>
          </a:xfrm>
          <a:prstGeom prst="rect">
            <a:avLst/>
          </a:prstGeom>
          <a:solidFill>
            <a:schemeClr val="bg1"/>
          </a:solidFill>
        </p:spPr>
        <p:txBody>
          <a:bodyPr wrap="square" rtlCol="0">
            <a:spAutoFit/>
          </a:bodyPr>
          <a:lstStyle/>
          <a:p>
            <a:pPr algn="ctr"/>
            <a:endParaRPr lang="es-MX" dirty="0"/>
          </a:p>
          <a:p>
            <a:pPr algn="just">
              <a:lnSpc>
                <a:spcPct val="150000"/>
              </a:lnSpc>
            </a:pPr>
            <a:r>
              <a:rPr lang="es-ES" sz="2000" b="1" dirty="0" smtClean="0"/>
              <a:t>Colas</a:t>
            </a:r>
            <a:r>
              <a:rPr lang="es-ES" sz="2000" dirty="0" smtClean="0"/>
              <a:t/>
            </a:r>
            <a:br>
              <a:rPr lang="es-ES" sz="2000" dirty="0" smtClean="0"/>
            </a:br>
            <a:r>
              <a:rPr lang="es-ES" sz="2000" dirty="0"/>
              <a:t>La clase Cola representa una estructura de datos tipo cola, donde los elementos se atienden en el orden en que fueron agregados, es decir, primero en entrar, primero en salir. El método encolar permite agregar elementos al final de la cola, mientras que desencolar elimina el primer elemento.</a:t>
            </a:r>
            <a:endParaRPr lang="es-ES" dirty="0"/>
          </a:p>
        </p:txBody>
      </p:sp>
      <p:pic>
        <p:nvPicPr>
          <p:cNvPr id="2" name="Imagen 1"/>
          <p:cNvPicPr>
            <a:picLocks noChangeAspect="1"/>
          </p:cNvPicPr>
          <p:nvPr/>
        </p:nvPicPr>
        <p:blipFill>
          <a:blip r:embed="rId2"/>
          <a:stretch>
            <a:fillRect/>
          </a:stretch>
        </p:blipFill>
        <p:spPr>
          <a:xfrm>
            <a:off x="59638" y="366119"/>
            <a:ext cx="7458762" cy="6255071"/>
          </a:xfrm>
          <a:prstGeom prst="rect">
            <a:avLst/>
          </a:prstGeom>
        </p:spPr>
      </p:pic>
    </p:spTree>
    <p:extLst>
      <p:ext uri="{BB962C8B-B14F-4D97-AF65-F5344CB8AC3E}">
        <p14:creationId xmlns:p14="http://schemas.microsoft.com/office/powerpoint/2010/main" val="3033625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7823200" y="263361"/>
            <a:ext cx="4359564" cy="4062651"/>
          </a:xfrm>
          <a:prstGeom prst="rect">
            <a:avLst/>
          </a:prstGeom>
          <a:solidFill>
            <a:schemeClr val="bg1"/>
          </a:solidFill>
        </p:spPr>
        <p:txBody>
          <a:bodyPr wrap="square" rtlCol="0">
            <a:spAutoFit/>
          </a:bodyPr>
          <a:lstStyle/>
          <a:p>
            <a:pPr algn="ctr"/>
            <a:endParaRPr lang="es-MX" dirty="0"/>
          </a:p>
          <a:p>
            <a:pPr algn="just">
              <a:lnSpc>
                <a:spcPct val="150000"/>
              </a:lnSpc>
            </a:pPr>
            <a:r>
              <a:rPr lang="es-ES" sz="2000" b="1" dirty="0" smtClean="0"/>
              <a:t>Listas</a:t>
            </a:r>
            <a:r>
              <a:rPr lang="es-ES" sz="2000" dirty="0" smtClean="0"/>
              <a:t/>
            </a:r>
            <a:br>
              <a:rPr lang="es-ES" sz="2000" dirty="0" smtClean="0"/>
            </a:br>
            <a:r>
              <a:rPr lang="es-ES" sz="2000" dirty="0"/>
              <a:t>En la clase Lista se maneja una lista simple que permite almacenar varios elementos en una sola estructura. El método agregar se utiliza para insertar nuevos valores a la lista, mientras que el método eliminar permite quitar un elemento específico.</a:t>
            </a:r>
            <a:endParaRPr lang="es-ES" dirty="0"/>
          </a:p>
        </p:txBody>
      </p:sp>
      <p:pic>
        <p:nvPicPr>
          <p:cNvPr id="4" name="Imagen 3"/>
          <p:cNvPicPr>
            <a:picLocks noChangeAspect="1"/>
          </p:cNvPicPr>
          <p:nvPr/>
        </p:nvPicPr>
        <p:blipFill>
          <a:blip r:embed="rId2"/>
          <a:stretch>
            <a:fillRect/>
          </a:stretch>
        </p:blipFill>
        <p:spPr>
          <a:xfrm>
            <a:off x="69452" y="263361"/>
            <a:ext cx="7569021" cy="6363027"/>
          </a:xfrm>
          <a:prstGeom prst="rect">
            <a:avLst/>
          </a:prstGeom>
        </p:spPr>
      </p:pic>
    </p:spTree>
    <p:extLst>
      <p:ext uri="{BB962C8B-B14F-4D97-AF65-F5344CB8AC3E}">
        <p14:creationId xmlns:p14="http://schemas.microsoft.com/office/powerpoint/2010/main" val="3249769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7823200" y="263361"/>
            <a:ext cx="4359564" cy="6093976"/>
          </a:xfrm>
          <a:prstGeom prst="rect">
            <a:avLst/>
          </a:prstGeom>
          <a:solidFill>
            <a:schemeClr val="bg1"/>
          </a:solidFill>
        </p:spPr>
        <p:txBody>
          <a:bodyPr wrap="square" rtlCol="0">
            <a:spAutoFit/>
          </a:bodyPr>
          <a:lstStyle/>
          <a:p>
            <a:pPr algn="ctr"/>
            <a:endParaRPr lang="es-MX" dirty="0"/>
          </a:p>
          <a:p>
            <a:pPr algn="just">
              <a:lnSpc>
                <a:spcPct val="150000"/>
              </a:lnSpc>
            </a:pPr>
            <a:r>
              <a:rPr lang="es-ES" sz="2000" b="1" dirty="0" smtClean="0"/>
              <a:t>Arreglos</a:t>
            </a:r>
            <a:r>
              <a:rPr lang="es-ES" sz="2000" dirty="0" smtClean="0"/>
              <a:t/>
            </a:r>
            <a:br>
              <a:rPr lang="es-ES" sz="2000" dirty="0" smtClean="0"/>
            </a:br>
            <a:r>
              <a:rPr lang="es-ES" sz="2000" dirty="0"/>
              <a:t>La clase Arreglo trabaja con una estructura basada en arreglos, donde los datos se almacenan en posiciones definidas. El método insertar permite agregar elementos al arreglo hasta que se alcanza su capacidad. </a:t>
            </a:r>
            <a:endParaRPr lang="es-ES" sz="2000" dirty="0" smtClean="0"/>
          </a:p>
          <a:p>
            <a:pPr algn="just">
              <a:lnSpc>
                <a:spcPct val="150000"/>
              </a:lnSpc>
            </a:pPr>
            <a:r>
              <a:rPr lang="es-ES" dirty="0"/>
              <a:t>Por otro lado, el método </a:t>
            </a:r>
            <a:r>
              <a:rPr lang="es-ES" i="1" dirty="0"/>
              <a:t>mostrar</a:t>
            </a:r>
            <a:r>
              <a:rPr lang="es-ES" dirty="0"/>
              <a:t> devuelve los valores almacenados, permitiendo observar cómo se van llenando las posiciones del arreglo conforme se ingresan datos.</a:t>
            </a:r>
          </a:p>
          <a:p>
            <a:pPr algn="just">
              <a:lnSpc>
                <a:spcPct val="150000"/>
              </a:lnSpc>
            </a:pPr>
            <a:endParaRPr lang="es-ES" dirty="0"/>
          </a:p>
        </p:txBody>
      </p:sp>
      <p:pic>
        <p:nvPicPr>
          <p:cNvPr id="2" name="Imagen 1"/>
          <p:cNvPicPr>
            <a:picLocks noChangeAspect="1"/>
          </p:cNvPicPr>
          <p:nvPr/>
        </p:nvPicPr>
        <p:blipFill>
          <a:blip r:embed="rId2"/>
          <a:stretch>
            <a:fillRect/>
          </a:stretch>
        </p:blipFill>
        <p:spPr>
          <a:xfrm>
            <a:off x="0" y="135186"/>
            <a:ext cx="7490691" cy="6350326"/>
          </a:xfrm>
          <a:prstGeom prst="rect">
            <a:avLst/>
          </a:prstGeom>
        </p:spPr>
      </p:pic>
    </p:spTree>
    <p:extLst>
      <p:ext uri="{BB962C8B-B14F-4D97-AF65-F5344CB8AC3E}">
        <p14:creationId xmlns:p14="http://schemas.microsoft.com/office/powerpoint/2010/main" val="4217694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7823200" y="263361"/>
            <a:ext cx="4359564" cy="4062651"/>
          </a:xfrm>
          <a:prstGeom prst="rect">
            <a:avLst/>
          </a:prstGeom>
          <a:solidFill>
            <a:schemeClr val="bg1"/>
          </a:solidFill>
        </p:spPr>
        <p:txBody>
          <a:bodyPr wrap="square" rtlCol="0">
            <a:spAutoFit/>
          </a:bodyPr>
          <a:lstStyle/>
          <a:p>
            <a:pPr algn="ctr"/>
            <a:endParaRPr lang="es-MX" dirty="0"/>
          </a:p>
          <a:p>
            <a:pPr algn="just">
              <a:lnSpc>
                <a:spcPct val="150000"/>
              </a:lnSpc>
            </a:pPr>
            <a:r>
              <a:rPr lang="es-ES" sz="2000" b="1" dirty="0" smtClean="0"/>
              <a:t>Vectores</a:t>
            </a:r>
            <a:r>
              <a:rPr lang="es-ES" sz="2000" dirty="0" smtClean="0"/>
              <a:t/>
            </a:r>
            <a:br>
              <a:rPr lang="es-ES" sz="2000" dirty="0" smtClean="0"/>
            </a:br>
            <a:r>
              <a:rPr lang="es-ES" sz="2000" dirty="0"/>
              <a:t>La clase </a:t>
            </a:r>
            <a:r>
              <a:rPr lang="es-ES" sz="2000" dirty="0" err="1"/>
              <a:t>VectorEstructura</a:t>
            </a:r>
            <a:r>
              <a:rPr lang="es-ES" sz="2000" dirty="0"/>
              <a:t> implementa una estructura de tipo vector, que es similar a una lista dinámica. El método </a:t>
            </a:r>
            <a:r>
              <a:rPr lang="es-ES" sz="2000" i="1" dirty="0"/>
              <a:t>agregar</a:t>
            </a:r>
            <a:r>
              <a:rPr lang="es-ES" sz="2000" dirty="0"/>
              <a:t> permite insertar nuevos elementos, mientras que el método </a:t>
            </a:r>
            <a:r>
              <a:rPr lang="es-ES" sz="2000" i="1" dirty="0"/>
              <a:t>eliminar</a:t>
            </a:r>
            <a:r>
              <a:rPr lang="es-ES" sz="2000" dirty="0"/>
              <a:t> sirve para quitar un valor específico del vector. </a:t>
            </a:r>
            <a:endParaRPr lang="es-ES" dirty="0"/>
          </a:p>
        </p:txBody>
      </p:sp>
      <p:pic>
        <p:nvPicPr>
          <p:cNvPr id="4" name="Imagen 3"/>
          <p:cNvPicPr>
            <a:picLocks noChangeAspect="1"/>
          </p:cNvPicPr>
          <p:nvPr/>
        </p:nvPicPr>
        <p:blipFill>
          <a:blip r:embed="rId2"/>
          <a:stretch>
            <a:fillRect/>
          </a:stretch>
        </p:blipFill>
        <p:spPr>
          <a:xfrm>
            <a:off x="0" y="0"/>
            <a:ext cx="7433384" cy="6363027"/>
          </a:xfrm>
          <a:prstGeom prst="rect">
            <a:avLst/>
          </a:prstGeom>
        </p:spPr>
      </p:pic>
    </p:spTree>
    <p:extLst>
      <p:ext uri="{BB962C8B-B14F-4D97-AF65-F5344CB8AC3E}">
        <p14:creationId xmlns:p14="http://schemas.microsoft.com/office/powerpoint/2010/main" val="432135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7823200" y="263361"/>
            <a:ext cx="4359564" cy="4524315"/>
          </a:xfrm>
          <a:prstGeom prst="rect">
            <a:avLst/>
          </a:prstGeom>
          <a:solidFill>
            <a:schemeClr val="bg1"/>
          </a:solidFill>
        </p:spPr>
        <p:txBody>
          <a:bodyPr wrap="square" rtlCol="0">
            <a:spAutoFit/>
          </a:bodyPr>
          <a:lstStyle/>
          <a:p>
            <a:pPr algn="ctr"/>
            <a:endParaRPr lang="es-MX" dirty="0"/>
          </a:p>
          <a:p>
            <a:pPr algn="just">
              <a:lnSpc>
                <a:spcPct val="150000"/>
              </a:lnSpc>
            </a:pPr>
            <a:r>
              <a:rPr lang="es-ES" sz="2000" b="1" dirty="0" err="1" smtClean="0"/>
              <a:t>Controller</a:t>
            </a:r>
            <a:r>
              <a:rPr lang="es-ES" sz="2000" dirty="0" smtClean="0"/>
              <a:t/>
            </a:r>
            <a:br>
              <a:rPr lang="es-ES" sz="2000" dirty="0" smtClean="0"/>
            </a:br>
            <a:r>
              <a:rPr lang="es-ES" sz="2000" dirty="0"/>
              <a:t>La clase </a:t>
            </a:r>
            <a:r>
              <a:rPr lang="es-ES" sz="2000" dirty="0" err="1"/>
              <a:t>MainController</a:t>
            </a:r>
            <a:r>
              <a:rPr lang="es-ES" sz="2000" dirty="0"/>
              <a:t> es la encargada de controlar la interacción entre las vistas y las estructuras de datos. Desde aquí se manejan los eventos de los botones, se abren las diferentes ventanas de cada estructura y se ejecutan las operaciones como apilar, encolar, agregar o eliminar elementos. </a:t>
            </a:r>
            <a:endParaRPr lang="es-ES" dirty="0"/>
          </a:p>
        </p:txBody>
      </p:sp>
      <p:pic>
        <p:nvPicPr>
          <p:cNvPr id="2" name="Imagen 1"/>
          <p:cNvPicPr>
            <a:picLocks noChangeAspect="1"/>
          </p:cNvPicPr>
          <p:nvPr/>
        </p:nvPicPr>
        <p:blipFill>
          <a:blip r:embed="rId2"/>
          <a:stretch>
            <a:fillRect/>
          </a:stretch>
        </p:blipFill>
        <p:spPr>
          <a:xfrm>
            <a:off x="0" y="263361"/>
            <a:ext cx="7823200" cy="6426530"/>
          </a:xfrm>
          <a:prstGeom prst="rect">
            <a:avLst/>
          </a:prstGeom>
        </p:spPr>
      </p:pic>
    </p:spTree>
    <p:extLst>
      <p:ext uri="{BB962C8B-B14F-4D97-AF65-F5344CB8AC3E}">
        <p14:creationId xmlns:p14="http://schemas.microsoft.com/office/powerpoint/2010/main" val="1060512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246908" y="969818"/>
            <a:ext cx="8986982" cy="3631763"/>
          </a:xfrm>
          <a:prstGeom prst="rect">
            <a:avLst/>
          </a:prstGeom>
          <a:noFill/>
        </p:spPr>
        <p:txBody>
          <a:bodyPr wrap="square" rtlCol="0">
            <a:spAutoFit/>
          </a:bodyPr>
          <a:lstStyle/>
          <a:p>
            <a:pPr algn="ctr"/>
            <a:r>
              <a:rPr lang="es-MX" sz="3200" b="1" dirty="0" smtClean="0"/>
              <a:t>Conclusión</a:t>
            </a:r>
            <a:endParaRPr lang="es-MX" sz="2800" b="1" dirty="0"/>
          </a:p>
          <a:p>
            <a:pPr algn="just"/>
            <a:endParaRPr lang="es-MX" dirty="0" smtClean="0"/>
          </a:p>
          <a:p>
            <a:pPr algn="just">
              <a:lnSpc>
                <a:spcPct val="150000"/>
              </a:lnSpc>
            </a:pPr>
            <a:r>
              <a:rPr lang="es-ES" sz="2400" dirty="0"/>
              <a:t>Al finalizar este trabajo se logró entender el funcionamiento de las principales estructuras de datos lineales, así como sus diferencias y aplicaciones. Mediante el uso de clases como pila, cola, lista, arreglo y vector, se pudo observar cómo los datos se agregan, eliminan y visualizan según el tipo de estructura utilizada.</a:t>
            </a:r>
            <a:endParaRPr lang="es-MX" sz="2400" dirty="0"/>
          </a:p>
        </p:txBody>
      </p:sp>
    </p:spTree>
    <p:extLst>
      <p:ext uri="{BB962C8B-B14F-4D97-AF65-F5344CB8AC3E}">
        <p14:creationId xmlns:p14="http://schemas.microsoft.com/office/powerpoint/2010/main" val="1504269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246908" y="969818"/>
            <a:ext cx="8986982" cy="1138773"/>
          </a:xfrm>
          <a:prstGeom prst="rect">
            <a:avLst/>
          </a:prstGeom>
          <a:noFill/>
        </p:spPr>
        <p:txBody>
          <a:bodyPr wrap="square" rtlCol="0">
            <a:spAutoFit/>
          </a:bodyPr>
          <a:lstStyle/>
          <a:p>
            <a:pPr algn="ctr"/>
            <a:r>
              <a:rPr lang="es-MX" sz="3200" b="1" dirty="0" smtClean="0"/>
              <a:t>Link anexado de los ejercicios solicitados en </a:t>
            </a:r>
            <a:r>
              <a:rPr lang="es-MX" sz="3200" b="1" dirty="0" err="1" smtClean="0"/>
              <a:t>GitHub</a:t>
            </a:r>
            <a:r>
              <a:rPr lang="es-MX" sz="3200" b="1" dirty="0" smtClean="0"/>
              <a:t> </a:t>
            </a:r>
            <a:endParaRPr lang="es-MX" sz="2800" b="1" dirty="0"/>
          </a:p>
          <a:p>
            <a:pPr algn="just"/>
            <a:endParaRPr lang="es-MX" dirty="0" smtClean="0"/>
          </a:p>
          <a:p>
            <a:pPr algn="just"/>
            <a:endParaRPr lang="es-MX" dirty="0" smtClean="0"/>
          </a:p>
        </p:txBody>
      </p:sp>
    </p:spTree>
    <p:extLst>
      <p:ext uri="{BB962C8B-B14F-4D97-AF65-F5344CB8AC3E}">
        <p14:creationId xmlns:p14="http://schemas.microsoft.com/office/powerpoint/2010/main" val="298379022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417</TotalTime>
  <Words>318</Words>
  <Application>Microsoft Office PowerPoint</Application>
  <PresentationFormat>Panorámica</PresentationFormat>
  <Paragraphs>39</Paragraphs>
  <Slides>11</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11</vt:i4>
      </vt:variant>
    </vt:vector>
  </HeadingPairs>
  <TitlesOfParts>
    <vt:vector size="17" baseType="lpstr">
      <vt:lpstr>Arial</vt:lpstr>
      <vt:lpstr>Arial Narrow</vt:lpstr>
      <vt:lpstr>Calibri</vt:lpstr>
      <vt:lpstr>Calibri Light</vt:lpstr>
      <vt:lpstr>Times New Roman</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company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Full name</dc:creator>
  <cp:lastModifiedBy>Full name</cp:lastModifiedBy>
  <cp:revision>14</cp:revision>
  <dcterms:created xsi:type="dcterms:W3CDTF">2025-12-13T00:56:47Z</dcterms:created>
  <dcterms:modified xsi:type="dcterms:W3CDTF">2025-12-15T04:11:44Z</dcterms:modified>
</cp:coreProperties>
</file>